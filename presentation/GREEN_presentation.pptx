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6e61552dbb41e8" Type="http://schemas.openxmlformats.org/officeDocument/2006/relationships/extended-properties" Target="docProps/app.xml"/><Relationship Id="Rbcdf7158c6884835" Type="http://schemas.openxmlformats.org/package/2006/relationships/metadata/core-properties" Target="docProps/core.xml"/><Relationship Id="Rd9239aa54a0d426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17aa9af15b4ca6"/>
  </p:sldMasterIdLst>
  <p:notesMasterIdLst>
    <p:notesMasterId xmlns:r="http://schemas.openxmlformats.org/officeDocument/2006/relationships" r:id="R4567cdd8cd254ec8"/>
  </p:notesMasterIdLst>
  <p:sldIdLst>
    <p:sldId xmlns:r="http://schemas.openxmlformats.org/officeDocument/2006/relationships" id="256" r:id="R20f025eb7a784ecc"/>
    <p:sldId xmlns:r="http://schemas.openxmlformats.org/officeDocument/2006/relationships" id="257" r:id="R791e673ad3724ac4"/>
    <p:sldId xmlns:r="http://schemas.openxmlformats.org/officeDocument/2006/relationships" id="258" r:id="R84719d3d8d1947f2"/>
    <p:sldId xmlns:r="http://schemas.openxmlformats.org/officeDocument/2006/relationships" id="259" r:id="Rf59ff67c6aa14089"/>
    <p:sldId xmlns:r="http://schemas.openxmlformats.org/officeDocument/2006/relationships" id="260" r:id="Rdfc70bd27f68492f"/>
    <p:sldId xmlns:r="http://schemas.openxmlformats.org/officeDocument/2006/relationships" id="261" r:id="R5b09463dd4894ad2"/>
    <p:sldId xmlns:r="http://schemas.openxmlformats.org/officeDocument/2006/relationships" id="262" r:id="Re8cd6b705a064687"/>
    <p:sldId xmlns:r="http://schemas.openxmlformats.org/officeDocument/2006/relationships" id="263" r:id="R78a7e316219c49f0"/>
    <p:sldId xmlns:r="http://schemas.openxmlformats.org/officeDocument/2006/relationships" id="264" r:id="Rab550fe82e184d93"/>
    <p:sldId xmlns:r="http://schemas.openxmlformats.org/officeDocument/2006/relationships" id="265" r:id="R7bb7aae9a2ef4021"/>
  </p:sldIdLst>
  <p:sldSz cx="10692000" cy="75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0f025eb7a784ecc" Type="http://schemas.openxmlformats.org/officeDocument/2006/relationships/slide" Target="slides/slide1.xml"/><Relationship Id="R2e17aa9af15b4ca6" Type="http://schemas.openxmlformats.org/officeDocument/2006/relationships/slideMaster" Target="slideMasters/slideMaster1.xml"/><Relationship Id="R4567cdd8cd254ec8" Type="http://schemas.openxmlformats.org/officeDocument/2006/relationships/notesMaster" Target="notesMasters/notesMaster1.xml"/><Relationship Id="R5b09463dd4894ad2" Type="http://schemas.openxmlformats.org/officeDocument/2006/relationships/slide" Target="slides/slide6.xml"/><Relationship Id="R78a7e316219c49f0" Type="http://schemas.openxmlformats.org/officeDocument/2006/relationships/slide" Target="slides/slide8.xml"/><Relationship Id="R791e673ad3724ac4" Type="http://schemas.openxmlformats.org/officeDocument/2006/relationships/slide" Target="slides/slide2.xml"/><Relationship Id="R7bb7aae9a2ef4021" Type="http://schemas.openxmlformats.org/officeDocument/2006/relationships/slide" Target="slides/slide10.xml"/><Relationship Id="R82d5a34ccb044d19" Type="http://schemas.openxmlformats.org/officeDocument/2006/relationships/presProps" Target="presProps.xml"/><Relationship Id="R84719d3d8d1947f2" Type="http://schemas.openxmlformats.org/officeDocument/2006/relationships/slide" Target="slides/slide3.xml"/><Relationship Id="R91d268f6743d47cf" Type="http://schemas.openxmlformats.org/officeDocument/2006/relationships/tableStyles" Target="tableStyles.xml"/><Relationship Id="Rab550fe82e184d93" Type="http://schemas.openxmlformats.org/officeDocument/2006/relationships/slide" Target="slides/slide9.xml"/><Relationship Id="Rdfc70bd27f68492f" Type="http://schemas.openxmlformats.org/officeDocument/2006/relationships/slide" Target="slides/slide5.xml"/><Relationship Id="Re4bd276463584825" Type="http://schemas.openxmlformats.org/officeDocument/2006/relationships/theme" Target="theme/theme1.xml"/><Relationship Id="Re8cd6b705a064687" Type="http://schemas.openxmlformats.org/officeDocument/2006/relationships/slide" Target="slides/slide7.xml"/><Relationship Id="Rf59ff67c6aa1408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92bd58c328be4e4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0434ba20c524ac0" Type="http://schemas.openxmlformats.org/officeDocument/2006/relationships/slide" Target="../slides/slide1.xml"/><Relationship Id="R7748df4fe5a7431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76e0c873c83486d" Type="http://schemas.openxmlformats.org/officeDocument/2006/relationships/slide" Target="../slides/slide2.xml"/><Relationship Id="R8e65134bdfdf462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be7a997ee5f46ab" Type="http://schemas.openxmlformats.org/officeDocument/2006/relationships/slide" Target="../slides/slide3.xml"/><Relationship Id="R9e5d474196ea4f73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0390740091147f1" Type="http://schemas.openxmlformats.org/officeDocument/2006/relationships/notesMaster" Target="../notesMasters/notesMaster1.xml"/><Relationship Id="R86f7b1d0030b4d5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2cc80d7f5ee42dc" Type="http://schemas.openxmlformats.org/officeDocument/2006/relationships/slide" Target="../slides/slide5.xml"/><Relationship Id="R69d10412bdc64b83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7bcc2477c9bc4278" Type="http://schemas.openxmlformats.org/officeDocument/2006/relationships/slide" Target="../slides/slide6.xml"/><Relationship Id="Ra1ca97eacb6c492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c8d0d531ea854d5b" Type="http://schemas.openxmlformats.org/officeDocument/2006/relationships/notesMaster" Target="../notesMasters/notesMaster1.xml"/><Relationship Id="Re7f0720e9a68431b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1ea2ca25c7a480d" Type="http://schemas.openxmlformats.org/officeDocument/2006/relationships/notesMaster" Target="../notesMasters/notesMaster1.xml"/><Relationship Id="Rec79497a956f4fc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9c404992954b4ebe" Type="http://schemas.openxmlformats.org/officeDocument/2006/relationships/notesMaster" Target="../notesMasters/notesMaster1.xml"/><Relationship Id="Rd7a9218716da48f5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084a629f01e4cd0" Type="http://schemas.openxmlformats.org/officeDocument/2006/relationships/notesMaster" Target="../notesMasters/notesMaster1.xml"/><Relationship Id="Rb642f1e7bba1499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авторов и контакты сохранены из предоставленной PPTX GREEN_Ecopremia_2026_v4_analogs, слайд 1. Результаты: README.md и docs/documentation/generated/B-streets.md, пакет 20.10.2026. Работа на датасете пилота не означает внедрение ДПиООС.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Выбор номинации: приказ ДПиООС 31.10.2024, приложение 1, описание цифровой номинации. Цель синтезирует действующий сервис (README) и спецификацию LCT_2026/docs/plans/2026-10-31-city-priority-and-budget.md. Бюджетная оптимизация не заявляется реализованной.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LCT_2026/README.md, разделы «Что умеет» и «Ограничения»; docs/documentation/03-algorithm.md, 3.16; 04-methods.md, 4.1. Число 391/554 относится к green audit на конкретном плане при выбранных правилах. Это не юридическое заключение о нарушениях и не доказательство непригодности проекта. Риски возвратов описаны в docs/notes/15-organizers-qa.md. Сервис не заменяет изыскания, согласования и экспертизу.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Методы и ограничения: docs/documentation/03-algorithm.md и 04-methods.md, docs/quality-weights.md. MILP применяется к конечным наборам кандидатов; при лимитах возможен жадный отбор, глобальный геометрический оптимум не заявляется. Квоты разнообразия сервиса не равны правилу Santamour 10/20/30: исходная PDF смешивала эти понятия. AHP не представлен как выполненный опрос экспертов. [1] https://highs.dev/ — решатель LP/MIP/QP. [2] https://doi.org/10.1787/9789264043466-en — методология составных индикаторов; не подтверждение точных проектных весов. [3] https://doi.org/10.48044/jauf.2011.015 — Criteria and Indicators for Strategic Urban Forest Planning and Management, Arboriculture &amp; Urban Forestry 37(3), 2011: одних крон недостаточно, важен набор показателей. Источники проверены 31.10.2026.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Изображения: docs/img/readme/workspace.webp и scene-3d.webp, без изменения содержания. Исходная GREEN_presentation.pdf, стр. 6, подписи к снимкам. 938=166+772. Функции правки и пересчёта: README.md. План и визуализация зависят от полноты исходного чертежа и допущений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README.md; docs/documentation/generated/B-streets.md; docs/documentation/08-limitations.md. Пакет 20.10.2026, исходные нормы СП 42.13330.2016 по ТЗ, данные 20 улиц. Время 1,9–33 мин, медиана 9,1 мин на машине разработчика, не SLA и не ускорение относительно человека. 0 нарушений — программная проверка реализованных правил по прочитанным данным, не внешняя экспертиза. Кроны взрослых растений, существующие типовые 8,5 м; показатель не равен эффекту первого года. Посадки не выполнены в натуре.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README.md; docs/documentation/02-architecture.md и 04-methods.md. Команда из 5 человек следует списку авторов исходной PPTX; распределение индивидуальных ролей не выдумано. ODA File Converter — freeware, поэтому снят исходный тезис «весь стек открытый». Тиражирование — техническая возможность при адаптации данных, правил и верификации; не обещание готовности любого чертежа или любого города без доработок. Инфраструктура, поддержка и изыскания имеют стоимость, подтверждённой сметы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проверены 31.10.2026: https://www.treeequityscore.org/analyzer — приоритеты территорий и сценарии; https://landscape.itreetools.org/help/ — оценка пользы и приоритизация; https://www.vectorworks.net/en-US/landmark/capabilities — посадочное CAD/BIM-проектирование и ведомости. Сравнение описывает позиционирование, а не отсутствие всех остальных функций у аналогов. Не утверждается мировая уникальность. Сильная сторона GREEN_ — предметная интеграция правил Москвы, трассировки, повторной проверки и сохранности исходника. Новизна интеграции не является патентным заключением.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LCT_2026/docs/plans/2026-10-31-city-priority-and-budget.md. x_ij∈{0,1}, sum_j x_ij≤1 (допускается не выбирать участок), sum_ij C_ij*x_ij≤B, максимизация sum U_ij*x_ij. Совместимость соседних вариантов проверяется отдельно. Стоимость = sum количество*(цена растения+посадка); отсутствующая цена блокирует вариант. P=100*(qG+qH+qA+qE+qV)/5, ранги по фиксированному референсу, равные веса проектные. При неполных данных полный P не используется автоматически, возможен единый basic-профиль G/E/V. U=(0.25+0.75*P/100)*(0.5*DeltaK/1000+0.5*DeltaL/100); DeltaK м², DeltaL м. А: P90, DeltaK1500, DeltaL50; Б: P70, DeltaK1100, DeltaL90; В: P60, DeltaK800, DeltaL100. При 380 допустимы одиночные планы и Б+В; Б+В лучшие с U1.405. Это арифметический пример, не результат интегрированного запуска. Прототип в исходном PDF является демонстрацией на условных данных, не реализацией производственного бюджетного оптимизатора.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Задачи 1–3 (слайд 2) подтверждаются алгоритмом, интерфейсом и результатами (4–6). Задача 4 является следующим этапом (9–10). Возможность опытной эксплуатации не равна состоявшемуся внедрению или одобрению заказчиком. Нужны чертежи, актуальные цены с размером растений, данные потребности и профильный эксперт. Снижение трудозатрат и затрат на посадки пока не измерено; в пилоте предлагается собрать эти метрики. Источники: README и LCT_2026/docs/plans/2026-10-31-city-priority-and-budget.md.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0364e4f17df469a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50cb8de2829f4ce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a36df309d43b4ba7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c18ea14dc80447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7e7f21481d264d5b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032c9fcef372471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3F3AFB-F0B1-4DA9-9F5C-202DC9445F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00" y="2856000"/>
            <a:ext cx="8553600" cy="10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286577-50DE-42A5-A923-5A65774DA4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00" y="4158000"/>
            <a:ext cx="7484400" cy="8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82B24A-46F9-4947-B66E-61A920D95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00" y="3150000"/>
            <a:ext cx="8553600" cy="1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668F5D-C95A-4903-BCB1-8B2A49743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588000"/>
            <a:ext cx="948915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2C1D79-D045-481B-ABE8-7FFD50BF0C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2100000"/>
            <a:ext cx="94891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0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3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6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9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2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5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8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EB80E0-9D2A-47DA-BECE-21EF5E67B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588000"/>
            <a:ext cx="948915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8AF296-F72A-424E-932F-B6837E59E1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2100000"/>
            <a:ext cx="44104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0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3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6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9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2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5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8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53A6F1-BF8B-4089-BD16-03777F450C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125" y="2100000"/>
            <a:ext cx="44104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0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3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6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9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2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5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8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2CFA95-0285-4CC3-8193-3E76A1F5A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588000"/>
            <a:ext cx="948915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8F75D3-9816-4562-A85D-D8145CBC36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2100000"/>
            <a:ext cx="44104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0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3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6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9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2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5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875" indent="-200475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c27a2d55c5a42be" Type="http://schemas.openxmlformats.org/officeDocument/2006/relationships/slideLayout" Target="../slideLayouts/slideLayout2.xml"/><Relationship Id="R2eda8be051f344c6" Type="http://schemas.openxmlformats.org/officeDocument/2006/relationships/slideLayout" Target="../slideLayouts/slideLayout3.xml"/><Relationship Id="R33928957f440438f" Type="http://schemas.openxmlformats.org/officeDocument/2006/relationships/theme" Target="theme/theme2.xml"/><Relationship Id="R6075fafd76c34dc2" Type="http://schemas.openxmlformats.org/officeDocument/2006/relationships/slideLayout" Target="../slideLayouts/slideLayout5.xml"/><Relationship Id="R9e91082b857345e3" Type="http://schemas.openxmlformats.org/officeDocument/2006/relationships/slideLayout" Target="../slideLayouts/slideLayout6.xml"/><Relationship Id="Raa9a495c2acf4e34" Type="http://schemas.openxmlformats.org/officeDocument/2006/relationships/slideLayout" Target="../slideLayouts/slideLayout4.xml"/><Relationship Id="Rabe8f8b745614a6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e8f8b745614a67"/>
    <p:sldLayoutId xmlns:r="http://schemas.openxmlformats.org/officeDocument/2006/relationships" id="2147483650" r:id="R1c27a2d55c5a42be"/>
    <p:sldLayoutId xmlns:r="http://schemas.openxmlformats.org/officeDocument/2006/relationships" id="2147483651" r:id="R2eda8be051f344c6"/>
    <p:sldLayoutId xmlns:r="http://schemas.openxmlformats.org/officeDocument/2006/relationships" id="2147483652" r:id="Raa9a495c2acf4e34"/>
    <p:sldLayoutId xmlns:r="http://schemas.openxmlformats.org/officeDocument/2006/relationships" id="2147483653" r:id="R6075fafd76c34dc2"/>
    <p:sldLayoutId xmlns:r="http://schemas.openxmlformats.org/officeDocument/2006/relationships" id="2147483654" r:id="R9e91082b857345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84187828fee4470" Type="http://schemas.openxmlformats.org/officeDocument/2006/relationships/slideLayout" Target="../slideLayouts/slideLayout6.xml"/><Relationship Id="Rc05d75de116949b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875fe739042342dc" Type="http://schemas.openxmlformats.org/officeDocument/2006/relationships/slideLayout" Target="../slideLayouts/slideLayout6.xml"/><Relationship Id="Rec712c2b287e4cf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8c63fc0a68a42f5" Type="http://schemas.openxmlformats.org/officeDocument/2006/relationships/slideLayout" Target="../slideLayouts/slideLayout6.xml"/><Relationship Id="R4d489bf557274f2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8de3fd2b7b84991" Type="http://schemas.openxmlformats.org/officeDocument/2006/relationships/slideLayout" Target="../slideLayouts/slideLayout6.xml"/><Relationship Id="Rf0d30885693d4c4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dfb92cefc1c4aff" Type="http://schemas.openxmlformats.org/officeDocument/2006/relationships/slideLayout" Target="../slideLayouts/slideLayout6.xml"/><Relationship Id="R61c6f1ce391e40ef" Type="http://schemas.openxmlformats.org/officeDocument/2006/relationships/image" Target="../media/image.png"/><Relationship Id="Rb1a83b16b75c4e5a" Type="http://schemas.openxmlformats.org/officeDocument/2006/relationships/image" Target="../media/image2.png"/><Relationship Id="Rb722ce8c7e6c431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06c9a2c40744149" Type="http://schemas.openxmlformats.org/officeDocument/2006/relationships/slideLayout" Target="../slideLayouts/slideLayout6.xml"/><Relationship Id="R9a99dd17e1584aad" Type="http://schemas.openxmlformats.org/officeDocument/2006/relationships/notesSlide" Target="../notesSlides/notesSlide6.xml"/><Relationship Id="Red8d1145d2984b12" Type="http://schemas.openxmlformats.org/officeDocument/2006/relationships/chart" Target="charts/chart1.xml"/></Relationships>
</file>

<file path=ppt/slides/_rels/slide7.xml.rels><?xml version='1.0' encoding='UTF-8' standalone='yes'?>
<Relationships xmlns="http://schemas.openxmlformats.org/package/2006/relationships"><Relationship Id="R10db4d42380240c7" Type="http://schemas.openxmlformats.org/officeDocument/2006/relationships/notesSlide" Target="../notesSlides/notesSlide7.xml"/><Relationship Id="Rce7d5edabd7c4c0a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cc56b37df6cd4c50" Type="http://schemas.openxmlformats.org/officeDocument/2006/relationships/slideLayout" Target="../slideLayouts/slideLayout6.xml"/><Relationship Id="Rd7c8d5f8cdee424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63c2703de3ee453c" Type="http://schemas.openxmlformats.org/officeDocument/2006/relationships/notesSlide" Target="../notesSlides/notesSlide9.xml"/><Relationship Id="Rca160c6d123142ca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0b042153b1ce4452" Type="http://schemas.openxmlformats.org/officeDocument/2006/relationships/slideLayout" Target="../slideLayouts/slideLayout6.xml"/><Relationship Id="Rd7410d3b3da84152" Type="http://schemas.openxmlformats.org/officeDocument/2006/relationships/notesSlide" Target="../notesSlides/notesSlide10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Существующие насаждения</c:v>
          </c:tx>
          <c:spPr>
            <a:solidFill xmlns:a="http://schemas.openxmlformats.org/drawingml/2006/main">
              <a:srgbClr val="A9B8A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Харьковская улица</c:v>
                </c:pt>
                <c:pt idx="1">
                  <c:v>Олимпийская деревня</c:v>
                </c:pt>
                <c:pt idx="2">
                  <c:v>Улица Берзарина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27.1</c:v>
                </c:pt>
                <c:pt idx="1">
                  <c:v>20.6</c:v>
                </c:pt>
                <c:pt idx="2">
                  <c:v>23.7</c:v>
                </c:pt>
              </c:numCache>
            </c:numRef>
          </c:val>
        </c:ser>
        <c:ser>
          <c:idx val="1"/>
          <c:order val="1"/>
          <c:tx>
            <c:v>С предлагаемыми посадками</c:v>
          </c:tx>
          <c:spPr>
            <a:solidFill xmlns:a="http://schemas.openxmlformats.org/drawingml/2006/main">
              <a:srgbClr val="277449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Харьковская улица</c:v>
                </c:pt>
                <c:pt idx="1">
                  <c:v>Олимпийская деревня</c:v>
                </c:pt>
                <c:pt idx="2">
                  <c:v>Улица Берзарина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49.4</c:v>
                </c:pt>
                <c:pt idx="1">
                  <c:v>38.4</c:v>
                </c:pt>
                <c:pt idx="2">
                  <c:v>34.8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53D2D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7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53D2D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solidFill xmlns:a="http://schemas.openxmlformats.org/drawingml/2006/main">
      <a:srgbClr val="F7F7E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90639-B122-4D43-99ED-C34428A6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rPr>
              <a:t>НОМИНАЦИЯ «ЦИФРОВИЗАЦИЯ ЭКОЛОГИЧЕСКИХ РЕШЕНИЙ»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C3D68-B38B-4906-8F93-4BD16699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7F847-94FA-4AE4-8CD8-EF2E4A80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96301-A949-40A2-BBBF-799042D8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762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8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rPr>
              <a:t>GREEN_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D5549-48CD-477D-BEA5-04E0F7C5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28825"/>
            <a:ext cx="96964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Цифровой проектировщик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5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озеленения улиц Москвы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E70C1-2596-488A-9AA1-611702D4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0450"/>
            <a:ext cx="962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rPr>
              <a:t>План посадок по чертежу и нормам,</a:t>
            </a:r>
          </a:p>
          <a:p xmlns:a="http://schemas.openxmlformats.org/drawingml/2006/main">
            <a:pPr>
              <a:def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rPr>
              <a:t>с объяснением каждого решения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0823E-196B-4817-B552-4D1E5D53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96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rPr>
              <a:t>Проверен на чертежах 20 улиц Москвы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16020-456D-4C3F-BDC3-9619B544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768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Авторский коллектив MISIS MOJARUNG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560AF-D124-4CAA-B290-593A9B68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05475"/>
            <a:ext cx="4953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Кирилл Владиславович Вериялов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Альберт Марсович Храмов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Максим Сергеевич Симаков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D20E9-C8A6-44BD-A25B-6B11A482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05475"/>
            <a:ext cx="4524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Ярослав Денисович Ролдугин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Булат Русланович Зарипов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Контакт: Булат Зарипов, @faeroshi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3F464-90DB-4446-97FE-C88FB35D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715125"/>
            <a:ext cx="969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zaripov.br@phystech.edu    +7 927 431-27-47</a:t>
            </a:r>
          </a:p>
        </p:txBody>
      </p:sp>
    </p:spTree>
    <p:extLst>
      <p:ext uri="{BB962C8B-B14F-4D97-AF65-F5344CB8AC3E}">
        <p14:creationId xmlns:p14="http://schemas.microsoft.com/office/powerpoint/2010/main" val="1254413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6EC07-32D0-4256-B24D-4917A9D0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9696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Цель и задачи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7CA7C-7463-4D4A-8FAA-52426CD1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ВВЕДЕНИЕ И ОГЛАВЛЕНИЕ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5CABA-6CD6-4FF8-934F-268FE9AC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D157E-9BBC-4EB6-9D44-009FC7F4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D1257-5142-48C3-8AB5-486E0573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969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Дать проектировщику проверяемый план озеленения,</a:t>
            </a:r>
          </a:p>
          <a:p xmlns:a="http://schemas.openxmlformats.org/drawingml/2006/main">
            <a: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а городу — основу для выбора посадок в пределах бюджета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2DAFF-5163-4147-9F1E-BE636751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38425"/>
            <a:ext cx="969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Почему эта номинация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26F74-2FF4-4285-BF72-0D150D2B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969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Веб-сервис автоматизирует планирование городской зелёной инфраструктуры: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читает чертежи, рассчитывает посадки, проверяет правила и выдаёт результат в САПР.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829BD-1C2B-421B-9161-2EE9A778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Задачи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F06C0-9A37-4024-B863-7C3627F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500062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1. Найти допустимые места и виды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2. Объяснить и перепроверить план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3. Сохранить исходник и выдать DXF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4. Добавить выбор в пределах бюджета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961DC-7E8A-44BB-901D-547BFBA6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719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Содержание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7E6E7-4896-436F-807E-9841FD07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960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3   Актуальность и проблема</a:t>
            </a:r>
          </a:p>
          <a:p xmlns:a="http://schemas.openxmlformats.org/drawingml/2006/main">
            <a: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4   Формула приоритета территорий</a:t>
            </a:r>
          </a:p>
          <a:p xmlns:a="http://schemas.openxmlformats.org/drawingml/2006/main">
            <a: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5–6   Что уже сделано     7   Ресурсы</a:t>
            </a:r>
          </a:p>
          <a:p xmlns:a="http://schemas.openxmlformats.org/drawingml/2006/main">
            <a: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8   Аналоги     9   Оптимизация по бюджету</a:t>
            </a:r>
          </a:p>
          <a:p xmlns:a="http://schemas.openxmlformats.org/drawingml/2006/main">
            <a:pPr>
              <a:def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10   Как внедряем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31E60-DA04-41D1-82FA-16681496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Задачи 1–3 реализованы. Задача 4 — прототип с живым демо (ссылка на стр. 5 и 9).</a:t>
            </a:r>
          </a:p>
          <a:p xmlns:a="http://schemas.openxmlformats.org/drawingml/2006/main">
            <a:pPr>
              <a:def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Как считаем приоритет — стр. 4, как выбираем посадки в бюджете — стр. 9.</a:t>
            </a:r>
          </a:p>
        </p:txBody>
      </p:sp>
    </p:spTree>
    <p:extLst>
      <p:ext uri="{BB962C8B-B14F-4D97-AF65-F5344CB8AC3E}">
        <p14:creationId xmlns:p14="http://schemas.microsoft.com/office/powerpoint/2010/main" val="502693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763FA-5CD0-42D5-B996-88731CDE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9696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Городу нужен план, который можно проверить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F5E26-FCBE-4BA0-BD22-045B0F85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ОБОСНОВАННОСТЬ И АКТУАЛЬНОСТЬ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E8FC7-1E0F-45D1-9831-C6408A45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8B920-40E1-4BB6-B43A-CD45600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91431-8A5D-4482-8E6A-F98B6EC3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969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Посадку ограничивают сети, здания, покрытия</a:t>
            </a:r>
          </a:p>
          <a:p xmlns:a="http://schemas.openxmlformats.org/drawingml/2006/main">
            <a:pPr>
              <a:def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и существующие насаждения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208A9-4D52-4557-9A89-28B0B322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391 из 554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79DF3-3891-491F-9D69-E38D0948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посадок в плане улицы Берзарина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получили флаг несоблюдения отступов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при программном нормоконтроле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247CC-3CAD-435D-B64C-16EFB6D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Что даёт GREEN_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47479-551A-4FCC-A130-0076D201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67075"/>
            <a:ext cx="4191000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Показывает конфликт до посадки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Даёт замер и пункт правила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Позволяет сравнить варианты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на одном комплекте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97E0C-E11E-4314-8351-C174A353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38775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104 правила связаны с актами и пунктами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DDAB3-292A-4029-A7D8-163AE5B6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95975"/>
            <a:ext cx="969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СП 42.13330, 743-ПП, МГСН 1.02-02 и другие акты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проверяются в выбранном профиле норм.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F14AA-EB06-4013-9546-7C46E79D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969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Сигнал для эксперта: чертёж может не отражать согласования и специальные решения.</a:t>
            </a:r>
          </a:p>
          <a:p xmlns:a="http://schemas.openxmlformats.org/drawingml/2006/main">
            <a: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Один кейс не характеризует качество всех проектов Москвы.</a:t>
            </a:r>
          </a:p>
        </p:txBody>
      </p:sp>
    </p:spTree>
    <p:extLst>
      <p:ext uri="{BB962C8B-B14F-4D97-AF65-F5344CB8AC3E}">
        <p14:creationId xmlns:p14="http://schemas.microsoft.com/office/powerpoint/2010/main" val="1778397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F90F0-558D-48E7-B412-DABDAFFC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9696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Приоритет территории — формула из пяти факторов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B2919-CC4C-4256-919F-42D967C2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ПОДХОДЫ, МЕТОДИКИ И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B542E-788F-4DE2-990A-6CE6D705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D2255-477B-4C44-BBA9-832E5D7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C36A5-67C1-4FAB-9161-92BCD303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90675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01  Факторы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A64AF-F838-48C0-ACCE-CB1DBBE6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90675"/>
            <a:ext cx="723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Дефицит зелени G, перегрев H, PM2.5 A, жители E, соцобъекты V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Данные: OpenStreetMap, сетка населения GHSL, снимки Landsat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C930B-515F-44C7-9BD6-0B9184B7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02  Нормировка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38964-0B16-4083-89C5-42855D99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723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Каждый показатель → процентиль q от 0 до 1 среди улиц: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q = (меньших + 0,5·(равных − 1)) / (n − 1)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795E1-5F4B-4770-96F3-7FEB2F13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03  Формула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53923-AF70-4C24-9660-6D9A1384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723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P = 100 · (qG + qH + qA + qE + qV) / 5, от 0 до 100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Пример: 0,9 + 0,8 + 0,7 + 0,6 + 0,5 → P = 70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03C6F-34C9-47E5-868A-1DC56C17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04  Пропуски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1F1BA-24F6-44C0-A6E8-90924EDB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9600"/>
            <a:ext cx="723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Неизвестное ≠ 0: показываем диапазон P, бюджет не тратим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Нет PM2.5 — общий профиль G, E, V с весами по 1/3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962EC-3AFC-4E48-80DA-412BE9B8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53075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Научная основа и проверка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01CEA-2CB1-4E7C-9808-168A44AE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969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Нормировка и устойчивость — по OECD/JRC [2]: удваиваем вес фактора и смотрим место улицы.</a:t>
            </a:r>
          </a:p>
          <a:p xmlns:a="http://schemas.openxmlformats.org/drawingml/2006/main">
            <a: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Равные веса — прозрачная гипотеза, согласуем с экспертами ДПиООС.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1007D-DA47-429A-9C69-310B975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734175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[1] OpenStreetMap; GHSL R2023A; Landsat 8 C2 L2   [2] OECD/JRC, 2008, doi:10.1787/9789264043466-en</a:t>
            </a:r>
          </a:p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[3] Kenney et al., 2011, doi:10.48044/jauf.2011.015</a:t>
            </a:r>
          </a:p>
        </p:txBody>
      </p:sp>
    </p:spTree>
    <p:extLst>
      <p:ext uri="{BB962C8B-B14F-4D97-AF65-F5344CB8AC3E}">
        <p14:creationId xmlns:p14="http://schemas.microsoft.com/office/powerpoint/2010/main" val="1232927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953EA-E6ED-4030-97C9-878EB440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9696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Каждая посадка имеет объяснение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9B1ED-223A-4F8C-96FB-1C3D238A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РАБОТАЮЩИЙ СЕРВИС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B7FED-759B-4564-9983-D20B632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ED366-DC58-4266-B0A8-D191ECAB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1DDEC-0BE2-4AAB-A340-5CFCB510F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6f1ce391e40ef"/>
          <a:stretch xmlns:a="http://schemas.openxmlformats.org/drawingml/2006/main"/>
        </p:blipFill>
        <p:spPr>
          <a:xfrm xmlns:a="http://schemas.openxmlformats.org/drawingml/2006/main">
            <a:off x="628650" y="1543050"/>
            <a:ext cx="6019800" cy="37623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1B52D-5E67-437E-BD72-5EB3D2B92F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83b16b75c4e5a"/>
          <a:stretch xmlns:a="http://schemas.openxmlformats.org/drawingml/2006/main"/>
        </p:blipFill>
        <p:spPr>
          <a:xfrm xmlns:a="http://schemas.openxmlformats.org/drawingml/2006/main">
            <a:off x="7067550" y="1762125"/>
            <a:ext cx="3124200" cy="1952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F2E4D-C21E-40AA-89C6-5B44029B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3D из координат плана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C1789-8269-4575-8219-1CFBBD11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52950"/>
            <a:ext cx="3124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Помогает обсуждать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проект до выполнения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посадочных работ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CE994-6DB7-416B-8552-8863E036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969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Кустанайская улица: 166 деревьев и 772 куста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9313D-A665-4952-8443-CD3153DC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05525"/>
            <a:ext cx="969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В карточке клёна Гиннала: 2,48 м до силового кабеля при пороге 2,00 м.</a:t>
            </a:r>
          </a:p>
          <a:p xmlns:a="http://schemas.openxmlformats.org/drawingml/2006/main">
            <a:pPr>
              <a:def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Пользователь видит замер и пункт правила, может изменить план и пересчитать его.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32D39-9C1C-466B-B4B3-7B790FF1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48475"/>
            <a:ext cx="969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Снимки работающего сервиса. Демо и видео: retrobich921.github.io/green-ecopremia-2026</a:t>
            </a:r>
          </a:p>
        </p:txBody>
      </p:sp>
    </p:spTree>
    <p:extLst>
      <p:ext uri="{BB962C8B-B14F-4D97-AF65-F5344CB8AC3E}">
        <p14:creationId xmlns:p14="http://schemas.microsoft.com/office/powerpoint/2010/main" val="1719571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C7552-2A54-49CC-8EB1-5304C4F1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9696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20 улиц получили проверенные планы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5A082-3CBB-4ED3-9C5C-2D32C03B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КОЛИЧЕСТВЕННЫЕ И КАЧЕСТВЕННЫЕ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C2C23-754A-4AF0-9EE7-1C7B8CFB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16D7A-87A1-4B83-9C6B-E79C857E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74B1B-3CE8-448C-B5BB-B25E66B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525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4 871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583F4-E8E8-4AF7-8E67-F67EEB73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57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дерево в планах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7B9BB-CFB8-4770-BE83-FFE30851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525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36 305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EDB7D-87A3-4DEA-A91E-0ADB5097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57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кустов в планах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967FC-DDF0-465C-BB9E-D87D2614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525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9,1 мин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FCA41-F3EC-49E7-9B61-4B581646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57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медиана расчёта улицы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27D57-193B-49D1-BA1B-86E2CDA7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6075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Расчётная доля длины бортов под кронами и кустарником, %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9E149958-6EE7-4ACF-8A5A-576080F013AF}"/>
              </a:ext>
            </a:extLst>
          </p:cNvPr>
          <p:cNvGraphicFramePr/>
          <p:nvPr/>
        </p:nvGraphicFramePr>
        <p:xfrm>
          <a:off xmlns:a="http://schemas.openxmlformats.org/drawingml/2006/main" x="495300" y="3352800"/>
          <a:ext xmlns:a="http://schemas.openxmlformats.org/drawingml/2006/main" cx="96964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8d1145d2984b12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1B640-91CD-48CB-82CF-9EA8F738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9696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0 нарушений проверяемых правил в итоговых планах</a:t>
            </a:r>
          </a:p>
          <a:p xmlns:a="http://schemas.openxmlformats.org/drawingml/2006/main">
            <a: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0 изменений среди 9 001 171 сверенного исходного объекта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E7EB9-E3AB-44B2-9278-1314889E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705600"/>
            <a:ext cx="9696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Прогоны 20.10.2026, строгий профиль. Проверка отдельным программным модулем.</a:t>
            </a:r>
          </a:p>
          <a:p xmlns:a="http://schemas.openxmlformats.org/drawingml/2006/main">
            <a:pPr>
              <a:def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Оценка по взрослым кронам и геометрии: это потенциал, не измеренное снижение жары или пыли.</a:t>
            </a:r>
          </a:p>
        </p:txBody>
      </p:sp>
    </p:spTree>
    <p:extLst>
      <p:ext uri="{BB962C8B-B14F-4D97-AF65-F5344CB8AC3E}">
        <p14:creationId xmlns:p14="http://schemas.microsoft.com/office/powerpoint/2010/main" val="1272402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E049D-FCE1-413D-9948-CE255202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9696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Ресурсы и тиражирование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A2ED6-5664-4684-ACBD-BACAB079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ПРИВЛЕЧЁННЫЕ РЕСУРСЫ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D739F-239A-41F6-87B2-07B9ECC4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EADCD-35A0-41C0-9DBD-7AE29243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DFC11-0A23-4E8D-A66C-8AB49BB7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Использовано командой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DCB4E-7DE9-444F-BCA8-25A3574C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4572000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5 авторов: алгоритм, данные,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интерфейс и проверка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20 комплектов чертежей улиц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104 правила, каталог 58 видов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Python, HiGHS, FastAPI, React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Docker, API и командная строка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83A08-3E98-4564-896F-83BBFCD8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Для следующего участка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CA5D2-00B3-4DDF-ADCD-65792327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81225"/>
            <a:ext cx="43815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Загрузить чертёж и сети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Проверить полноту и классификацию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Выбрать профиль норм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Согласовать результат с экспертом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F113C-8A02-43FB-8773-8D4FDDF8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Для другого города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380B8-26C8-4453-B071-95FCF684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Адаптировать нормы, ассортимент</a:t>
            </a:r>
          </a:p>
          <a:p xmlns:a="http://schemas.openxmlformats.org/drawingml/2006/main">
            <a: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и классификацию чертежей,</a:t>
            </a:r>
          </a:p>
          <a:p xmlns:a="http://schemas.openxmlformats.org/drawingml/2006/main">
            <a:pPr>
              <a:def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проверить на местных примерах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3113E-DCB3-446C-932B-3528AAB3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969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Расчёт посадок не требует видеокарты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85153-55A7-48A3-8D7C-0DE4FC1C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48425"/>
            <a:ext cx="969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Видеокарта нужна для опциональной генерации изображений.</a:t>
            </a:r>
          </a:p>
          <a:p xmlns:a="http://schemas.openxmlformats.org/drawingml/2006/main">
            <a:pPr>
              <a:def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Стоимость внедрения и сопровождения ещё не оценена.</a:t>
            </a:r>
          </a:p>
        </p:txBody>
      </p:sp>
    </p:spTree>
    <p:extLst>
      <p:ext uri="{BB962C8B-B14F-4D97-AF65-F5344CB8AC3E}">
        <p14:creationId xmlns:p14="http://schemas.microsoft.com/office/powerpoint/2010/main" val="376330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0CFE4-4DA5-4C7E-9D15-4E007548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9696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Аналоги и позиционирование GREEN_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7EE65-9609-493E-B6E2-0D17C761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НОВИЗНА И СРАВНЕНИЕ С АНАЛОГАМИ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67802-9B5B-4A5A-A658-E9A6CEF9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CE7A6-4561-4759-B00B-6D644786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B2CCA-59A1-4214-8DB4-0674D0E95BED}"/>
              </a:ext>
            </a:extLst>
          </p:cNvPr>
          <p:cNvGraphicFramePr/>
          <p:nvPr/>
        </p:nvGraphicFramePr>
        <p:xfrm>
          <a:off xmlns:a="http://schemas.openxmlformats.org/drawingml/2006/main" x="495300" y="1647825"/>
          <a:ext xmlns:a="http://schemas.openxmlformats.org/drawingml/2006/main" cx="96964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733550"/>
                <a:gridCol w="1733550"/>
                <a:gridCol w="1733550"/>
                <a:gridCol w="1733550"/>
              </a:tblGrid>
              <a:tr h="563563">
                <a:tc>
                  <a:txBody>
                    <a:bodyPr lIns="114300" tIns="114300" rIns="95250" bIns="76200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Возможность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T w="9525">
                      <a:solidFill>
                        <a:srgbClr val="CCD8CA"/>
                      </a:solidFill>
                      <a:prstDash val="solid"/>
                    </a:lnT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153D2D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Tree Equity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Score Analyzer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T w="9525">
                      <a:solidFill>
                        <a:srgbClr val="CCD8CA"/>
                      </a:solidFill>
                      <a:prstDash val="solid"/>
                    </a:lnT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153D2D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i-Tree Landscape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 Planting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T w="9525">
                      <a:solidFill>
                        <a:srgbClr val="CCD8CA"/>
                      </a:solidFill>
                      <a:prstDash val="solid"/>
                    </a:lnT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153D2D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Vectorworks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Landmark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T w="9525">
                      <a:solidFill>
                        <a:srgbClr val="CCD8CA"/>
                      </a:solidFill>
                      <a:prstDash val="solid"/>
                    </a:lnT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153D2D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GREEN_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T w="9525">
                      <a:solidFill>
                        <a:srgbClr val="CCD8CA"/>
                      </a:solidFill>
                      <a:prstDash val="solid"/>
                    </a:lnT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153D2D"/>
                    </a:solidFill>
                  </a:tcPr>
                </a:tc>
              </a:tr>
              <a:tr h="563563"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Приоритет территорий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Проект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Экологические показатели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Модели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Модели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Инструменты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Геометрия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</a:tr>
              <a:tr h="563563"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CAD-план и ведомость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Стоимость растений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Проект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</a:tr>
              <a:tr h="563563"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Отступы по актам Москвы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95250" bIns="76200"/>
                    <a:lstStyle/>
                    <a:p>
                      <a:r>
                        <a:rPr sz="135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Да*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88FB3-0A99-4043-B789-AD3C47A7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969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Фокус GREEN_: посадка с замером и пунктом нормы,</a:t>
            </a:r>
          </a:p>
          <a:p xmlns:a="http://schemas.openxmlformats.org/drawingml/2006/main">
            <a:pPr algn="l">
              <a:def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повторная проверка плана и сохранность исходного DXF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57802-75EC-44A4-8419-704E6C55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«—» означает: функция не подтверждена в изученных источниках.</a:t>
            </a:r>
          </a:p>
          <a:p xmlns:a="http://schemas.openxmlformats.org/drawingml/2006/main">
            <a:pPr algn="l"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* В пределах реализованных правил и данных чертежа. Приоритет и бюджет спроектированы.</a:t>
            </a:r>
          </a:p>
        </p:txBody>
      </p:sp>
    </p:spTree>
    <p:extLst>
      <p:ext uri="{BB962C8B-B14F-4D97-AF65-F5344CB8AC3E}">
        <p14:creationId xmlns:p14="http://schemas.microsoft.com/office/powerpoint/2010/main" val="921278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1CFF2-6DEF-4404-8D91-39176C8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9696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Бюджет — ограничение в готовом оптимизаторе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B44A0-DEF5-4838-AE10-D0D3CF72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РАЗВИТИЕ АЛГОРИТМА / В РАЗРАБОТКЕ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7232D-2E34-4B2C-9977-FD51C91C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F0851-C91B-4036-B8A9-3252265A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53F1D-B53D-4FD7-BEA9-387AED6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969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В GREEN_ уже работает MILP-оптимизатор (HiGHS),</a:t>
            </a:r>
          </a:p>
          <a:p xmlns:a="http://schemas.openxmlformats.org/drawingml/2006/main">
            <a: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денежный лимит — ещё одна строка в той же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CFB31-0A69-41EA-B3A6-3E2A9CF2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969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max Σ Uᵢⱼxᵢⱼ   при   Σ Cᵢⱼxᵢⱼ ≤ B,   Σⱼ xᵢⱼ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4B6BA-1EA4-4783-9978-F0C23430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969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x = 0 или 1: вариант j участка i, включая «без посадок». C = Σ кол-во × (цена растения + посадки).</a:t>
            </a:r>
          </a:p>
          <a:p xmlns:a="http://schemas.openxmlformats.org/drawingml/2006/main">
            <a: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U = (0,25 + 0,75·P/100) × (0,5·ΔК/1000 + 0,5·ΔL/100): польза растёт с приоритетом P.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41A3E-C9D2-4C76-9EC2-2A02276245E8}"/>
              </a:ext>
            </a:extLst>
          </p:cNvPr>
          <p:cNvGraphicFramePr/>
          <p:nvPr/>
        </p:nvGraphicFramePr>
        <p:xfrm>
          <a:off xmlns:a="http://schemas.openxmlformats.org/drawingml/2006/main" x="495300" y="3905250"/>
          <a:ext xmlns:a="http://schemas.openxmlformats.org/drawingml/2006/main" cx="5238750" cy="1866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1600200"/>
                <a:gridCol w="1333500"/>
              </a:tblGrid>
              <a:tr h="466725">
                <a:tc>
                  <a:txBody>
                    <a:bodyPr lIns="114300" tIns="8572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Условный вариант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T w="9525">
                      <a:solidFill>
                        <a:srgbClr val="CCD8CA"/>
                      </a:solidFill>
                      <a:prstDash val="solid"/>
                    </a:lnT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153D2D"/>
                    </a:solidFill>
                  </a:tcPr>
                </a:tc>
                <a:tc>
                  <a:txBody>
                    <a:bodyPr lIns="114300" tIns="8572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Цена, тыс. 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T w="9525">
                      <a:solidFill>
                        <a:srgbClr val="CCD8CA"/>
                      </a:solidFill>
                      <a:prstDash val="solid"/>
                    </a:lnT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153D2D"/>
                    </a:solidFill>
                  </a:tcPr>
                </a:tc>
                <a:tc>
                  <a:txBody>
                    <a:bodyPr lIns="114300" tIns="8572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Польза 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T w="9525">
                      <a:solidFill>
                        <a:srgbClr val="CCD8CA"/>
                      </a:solidFill>
                      <a:prstDash val="solid"/>
                    </a:lnT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153D2D"/>
                    </a:solidFill>
                  </a:tcPr>
                </a:tc>
              </a:tr>
              <a:tr h="466725">
                <a:tc>
                  <a:txBody>
                    <a:bodyPr lIns="114300" tIns="85725" rIns="95250" bIns="66675"/>
                    <a:lstStyle/>
                    <a:p>
                      <a:r>
                        <a:rPr sz="150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Участок 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66675"/>
                    <a:lstStyle/>
                    <a:p>
                      <a:r>
                        <a:rPr sz="150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66675"/>
                    <a:lstStyle/>
                    <a:p>
                      <a:r>
                        <a:rPr sz="150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0,925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114300" tIns="85725" rIns="95250" bIns="66675"/>
                    <a:lstStyle/>
                    <a:p>
                      <a:r>
                        <a:rPr sz="150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Участок 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85725" rIns="95250" bIns="66675"/>
                    <a:lstStyle/>
                    <a:p>
                      <a:r>
                        <a:rPr sz="150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  <a:tc>
                  <a:txBody>
                    <a:bodyPr lIns="114300" tIns="85725" rIns="95250" bIns="66675"/>
                    <a:lstStyle/>
                    <a:p>
                      <a:r>
                        <a:rPr sz="150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0,775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E9EEE4"/>
                    </a:solidFill>
                  </a:tcPr>
                </a:tc>
              </a:tr>
              <a:tr h="466725">
                <a:tc>
                  <a:txBody>
                    <a:bodyPr lIns="114300" tIns="85725" rIns="95250" bIns="66675"/>
                    <a:lstStyle/>
                    <a:p>
                      <a:r>
                        <a:rPr sz="150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Участок 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8CA"/>
                      </a:solidFill>
                      <a:prstDash val="solid"/>
                    </a:lnL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66675"/>
                    <a:lstStyle/>
                    <a:p>
                      <a:r>
                        <a:rPr sz="150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66675"/>
                    <a:lstStyle/>
                    <a:p>
                      <a:r>
                        <a:rPr sz="1500" b="0">
                          <a:solidFill>
                            <a:srgbClr val="153D2D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0,630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8CA"/>
                      </a:solidFill>
                      <a:prstDash val="solid"/>
                    </a:lnR>
                    <a:lnB w="9525">
                      <a:solidFill>
                        <a:srgbClr val="CCD8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C7377-C271-41B0-A7CE-87DA3F30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00500"/>
            <a:ext cx="4029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77449"/>
                </a:solidFill>
                <a:latin typeface="Liberation Sans"/>
                <a:ea typeface="Liberation Sans"/>
                <a:cs typeface="Liberation Sans"/>
              </a:rPr>
              <a:t>Бюджет 380 тыс. 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6B566-8CEC-4632-806D-91B3CC3C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91050"/>
            <a:ext cx="40290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Выбор: Б + В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Цена: 200 + 180 = 380</a:t>
            </a:r>
          </a:p>
          <a:p xmlns:a="http://schemas.openxmlformats.org/drawingml/2006/main">
            <a:pPr>
              <a:def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Польза: 0,775 + 0,630 = 1,405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2DD4D-FB06-448D-A4A0-1E589BE6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19800"/>
            <a:ext cx="9696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Как делаем: 1) справочник цен  2) 3–5 проверенных вариантов на улицу  3) MILP с лимитом B</a:t>
            </a:r>
          </a:p>
          <a:p xmlns:a="http://schemas.openxmlformats.org/drawingml/2006/main">
            <a:pPr>
              <a:def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53D2D"/>
                </a:solidFill>
                <a:latin typeface="Liberation Sans"/>
                <a:ea typeface="Liberation Sans"/>
                <a:cs typeface="Liberation Sans"/>
              </a:rPr>
              <a:t>4) сверка с полным перебором и проверка: при росте бюджета польза не падает.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C960D-E297-45FC-8D3D-77B75F53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762750"/>
            <a:ext cx="969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Прототип уже в демо: точный выбор совпал с полным перебором на 3 бюджетах. Цены пока условные.</a:t>
            </a:r>
          </a:p>
          <a:p xmlns:a="http://schemas.openxmlformats.org/drawingml/2006/main">
            <a:pPr>
              <a:def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B6C60"/>
                </a:solidFill>
                <a:latin typeface="Liberation Sans"/>
                <a:ea typeface="Liberation Sans"/>
                <a:cs typeface="Liberation Sans"/>
              </a:rPr>
              <a:t>Демо: retrobich921.github.io/green-ecopremia-2026</a:t>
            </a:r>
          </a:p>
        </p:txBody>
      </p:sp>
    </p:spTree>
    <p:extLst>
      <p:ext uri="{BB962C8B-B14F-4D97-AF65-F5344CB8AC3E}">
        <p14:creationId xmlns:p14="http://schemas.microsoft.com/office/powerpoint/2010/main" val="1962166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99BF1-52D2-4E21-8949-9B9E10E5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9696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Следующий шаг: опытная эксплуатация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707D9-5F2E-4933-B0F0-0E8FCA93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969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rPr>
              <a:t>ЗАКЛЮЧЕНИЕ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EEF1E-55C0-4F62-A408-1601C6EC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79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rPr>
              <a:t>GREEN_   /   Экологическая премия Москвы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4DC24-0BA5-4E74-B78C-561C09CB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04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B8169-7C55-4618-B51B-5540C39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4572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rPr>
              <a:t>Готовая основа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082F0-5112-49B0-9B7D-B84F9264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0275"/>
            <a:ext cx="4572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Планы для 20 улиц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Проверка отступов и объяснения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Сохранение исходного DXF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BA262-1F95-431A-A1E9-6C87CD75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38300"/>
            <a:ext cx="438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rPr>
              <a:t>Развитие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B7715-4428-465B-8926-3DC70EA0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0275"/>
            <a:ext cx="438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Цена как жёсткое ограничение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Приоритет территорий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Выбор вариантов в бюджете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3B1FF-FC1C-4069-9C5F-EDA576E8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rPr>
              <a:t>Предлагаем пилот с проектировщиками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0304A-20D6-4E34-BD2F-263FB656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969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 улицы, реальные цены и 3 уровня бюджета.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Проверить нормы, сравнить выбор с полным перебором,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оценить чувствительность к ценам и весам.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28B25-13AE-4078-863F-6196865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9696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rPr>
              <a:t>Зафиксировать время работы эксперта, число замечаний и стоимость вариантов.</a:t>
            </a:r>
          </a:p>
          <a:p xmlns:a="http://schemas.openxmlformats.org/drawingml/2006/main">
            <a:pPr>
              <a:def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DCE8DC"/>
                </a:solidFill>
                <a:latin typeface="Liberation Sans"/>
                <a:ea typeface="Liberation Sans"/>
                <a:cs typeface="Liberation Sans"/>
              </a:rPr>
              <a:t>После реализации посадок проверить приживаемость и фактический эффект.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D5342-C3C6-4029-B199-4A6FD952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743700"/>
            <a:ext cx="9696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D5EE83"/>
                </a:solidFill>
                <a:latin typeface="Liberation Sans"/>
                <a:ea typeface="Liberation Sans"/>
                <a:cs typeface="Liberation Sans"/>
              </a:rPr>
              <a:t>Исходный код и документация: github.com/Mojarung/LCT_2026</a:t>
            </a:r>
          </a:p>
        </p:txBody>
      </p:sp>
    </p:spTree>
    <p:extLst>
      <p:ext uri="{BB962C8B-B14F-4D97-AF65-F5344CB8AC3E}">
        <p14:creationId xmlns:p14="http://schemas.microsoft.com/office/powerpoint/2010/main" val="367307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2026-10-31T20:06:06.9160000Z</dcterms:created>
  <dcterms:modified xsi:type="dcterms:W3CDTF">2026-10-31T20:06:06.9160000Z</dcterms:modified>
</coreProperties>
</file>